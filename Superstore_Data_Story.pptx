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9AA5B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B3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494040</c:v>
                </c:pt>
                <c:pt idx="1">
                  <c:v>472993</c:v>
                </c:pt>
                <c:pt idx="2">
                  <c:v>613934</c:v>
                </c:pt>
                <c:pt idx="3">
                  <c:v>745568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B3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51684</c:v>
                </c:pt>
                <c:pt idx="1">
                  <c:v>62021</c:v>
                </c:pt>
                <c:pt idx="2">
                  <c:v>82665</c:v>
                </c:pt>
                <c:pt idx="3">
                  <c:v>95926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22B3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B3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9AA5B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B3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Furniture</c:v>
                  </c:pt>
                  <c:pt idx="1">
                    <c:v>Office Supplies</c:v>
                  </c:pt>
                  <c:pt idx="2">
                    <c:v>Technology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754748</c:v>
                </c:pt>
                <c:pt idx="1">
                  <c:v>731893</c:v>
                </c:pt>
                <c:pt idx="2">
                  <c:v>839893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B3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Furniture</c:v>
                  </c:pt>
                  <c:pt idx="1">
                    <c:v>Office Supplies</c:v>
                  </c:pt>
                  <c:pt idx="2">
                    <c:v>Technology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19730</c:v>
                </c:pt>
                <c:pt idx="1">
                  <c:v>126023</c:v>
                </c:pt>
                <c:pt idx="2">
                  <c:v>146543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22B3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B3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2E6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B3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6FB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6FB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6FB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6FB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6FB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E6FB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E6FB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E6FBF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E6FBF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2E6FBF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2E6FBF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2E6FBF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2E6FBF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2E6FBF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5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6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Sheet1!$A$2:$A$18</c:f>
              <c:multiLvlStrCache>
                <c:ptCount val="17"/>
                <c:lvl>
                  <c:pt idx="0">
                    <c:v>Copiers</c:v>
                  </c:pt>
                  <c:pt idx="1">
                    <c:v>Phones</c:v>
                  </c:pt>
                  <c:pt idx="2">
                    <c:v>Accessories</c:v>
                  </c:pt>
                  <c:pt idx="3">
                    <c:v>Paper</c:v>
                  </c:pt>
                  <c:pt idx="4">
                    <c:v>Binders</c:v>
                  </c:pt>
                  <c:pt idx="5">
                    <c:v>Chairs</c:v>
                  </c:pt>
                  <c:pt idx="6">
                    <c:v>Storage</c:v>
                  </c:pt>
                  <c:pt idx="7">
                    <c:v>Appliances</c:v>
                  </c:pt>
                  <c:pt idx="8">
                    <c:v>Furnishings</c:v>
                  </c:pt>
                  <c:pt idx="9">
                    <c:v>Envelopes</c:v>
                  </c:pt>
                  <c:pt idx="10">
                    <c:v>Art</c:v>
                  </c:pt>
                  <c:pt idx="11">
                    <c:v>Labels</c:v>
                  </c:pt>
                  <c:pt idx="12">
                    <c:v>Machines</c:v>
                  </c:pt>
                  <c:pt idx="13">
                    <c:v>Fasteners</c:v>
                  </c:pt>
                  <c:pt idx="14">
                    <c:v>Supplies</c:v>
                  </c:pt>
                  <c:pt idx="15">
                    <c:v>Bookcases</c:v>
                  </c:pt>
                  <c:pt idx="16">
                    <c:v>Tables</c:v>
                  </c:pt>
                </c:lvl>
              </c:multiLvlStrCache>
            </c:multiLvl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56094</c:v>
                </c:pt>
                <c:pt idx="1">
                  <c:v>45051</c:v>
                </c:pt>
                <c:pt idx="2">
                  <c:v>41937</c:v>
                </c:pt>
                <c:pt idx="3">
                  <c:v>34512</c:v>
                </c:pt>
                <c:pt idx="4">
                  <c:v>31426</c:v>
                </c:pt>
                <c:pt idx="5">
                  <c:v>27224</c:v>
                </c:pt>
                <c:pt idx="6">
                  <c:v>21285</c:v>
                </c:pt>
                <c:pt idx="7">
                  <c:v>18329</c:v>
                </c:pt>
                <c:pt idx="8">
                  <c:v>13892</c:v>
                </c:pt>
                <c:pt idx="9">
                  <c:v>6988</c:v>
                </c:pt>
                <c:pt idx="10">
                  <c:v>6653</c:v>
                </c:pt>
                <c:pt idx="11">
                  <c:v>5573</c:v>
                </c:pt>
                <c:pt idx="12">
                  <c:v>3462</c:v>
                </c:pt>
                <c:pt idx="13">
                  <c:v>2429</c:v>
                </c:pt>
                <c:pt idx="14">
                  <c:v>-1171</c:v>
                </c:pt>
                <c:pt idx="15">
                  <c:v>-3632</c:v>
                </c:pt>
                <c:pt idx="16">
                  <c:v>-17753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22B3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22B3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2E6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B3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6FB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6FB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6FB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No discount</c:v>
                  </c:pt>
                  <c:pt idx="1">
                    <c:v>Up to 10%</c:v>
                  </c:pt>
                  <c:pt idx="2">
                    <c:v>10-20%</c:v>
                  </c:pt>
                  <c:pt idx="3">
                    <c:v>20-30%</c:v>
                  </c:pt>
                  <c:pt idx="4">
                    <c:v>30-50%</c:v>
                  </c:pt>
                  <c:pt idx="5">
                    <c:v>Over 50%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326719</c:v>
                </c:pt>
                <c:pt idx="1">
                  <c:v>9100</c:v>
                </c:pt>
                <c:pt idx="2">
                  <c:v>92499</c:v>
                </c:pt>
                <c:pt idx="3">
                  <c:v>-10513</c:v>
                </c:pt>
                <c:pt idx="4">
                  <c:v>-48477</c:v>
                </c:pt>
                <c:pt idx="5">
                  <c:v>-77030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22B3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B3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 slide. Sales fell slightly in 2024, then grew in 2025 and 2026. Profit grew too, but stays small next to sales. Next slides ask: where is profit being lost?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slide. Sales are close across the three categories, but Furniture profit is tiny. Margin = profit / sales.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1. Sorted bar chart of profit by sub-category. Red bars are losses. Two of the three loss makers are Furniture.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2. Profit by discount band. Up to 20% discount is still profitable; above 20% every band loses money. Orders over 20% are about 16% of sales.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Recommendation slide. Each action links to the evidence on slides 2 to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are up 51% since 2023, but only about 13 cents of every dollar is profit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   Superstore sales data, 2023-2026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234440"/>
          <a:ext cx="55778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6126480" y="1371600"/>
            <a:ext cx="2560320" cy="914400"/>
          </a:xfrm>
          <a:prstGeom prst="rect">
            <a:avLst/>
          </a:prstGeom>
          <a:solidFill>
            <a:srgbClr val="F7F9FB"/>
          </a:solidFill>
          <a:ln w="9525">
            <a:solidFill>
              <a:srgbClr val="E1E6E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263640" y="1371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$2.33M</a:t>
            </a: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sales, 2023-2026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6126480" y="2468880"/>
            <a:ext cx="2560320" cy="914400"/>
          </a:xfrm>
          <a:prstGeom prst="rect">
            <a:avLst/>
          </a:prstGeom>
          <a:solidFill>
            <a:srgbClr val="F7F9FB"/>
          </a:solidFill>
          <a:ln w="9525">
            <a:solidFill>
              <a:srgbClr val="E1E6E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263640" y="24688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$292K</a:t>
            </a: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6126480" y="3566160"/>
            <a:ext cx="2560320" cy="914400"/>
          </a:xfrm>
          <a:prstGeom prst="rect">
            <a:avLst/>
          </a:prstGeom>
          <a:solidFill>
            <a:srgbClr val="F7F9FB"/>
          </a:solidFill>
          <a:ln w="9525">
            <a:solidFill>
              <a:srgbClr val="E1E6EB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263640" y="3566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12.6%</a:t>
            </a: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profit margin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sells as much as the other categories but keeps only 2.6% as profit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   Superstore sales data, 2023-2026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234440"/>
          <a:ext cx="55778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6126480" y="1371600"/>
            <a:ext cx="2560320" cy="914400"/>
          </a:xfrm>
          <a:prstGeom prst="rect">
            <a:avLst/>
          </a:prstGeom>
          <a:solidFill>
            <a:srgbClr val="F7F9FB"/>
          </a:solidFill>
          <a:ln w="9525">
            <a:solidFill>
              <a:srgbClr val="E1E6E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263640" y="1371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2.6%</a:t>
            </a: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profit margin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6126480" y="2468880"/>
            <a:ext cx="2560320" cy="914400"/>
          </a:xfrm>
          <a:prstGeom prst="rect">
            <a:avLst/>
          </a:prstGeom>
          <a:solidFill>
            <a:srgbClr val="F7F9FB"/>
          </a:solidFill>
          <a:ln w="9525">
            <a:solidFill>
              <a:srgbClr val="E1E6E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263640" y="24688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17.2%</a:t>
            </a: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Supplies margin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6126480" y="3566160"/>
            <a:ext cx="2560320" cy="914400"/>
          </a:xfrm>
          <a:prstGeom prst="rect">
            <a:avLst/>
          </a:prstGeom>
          <a:solidFill>
            <a:srgbClr val="F7F9FB"/>
          </a:solidFill>
          <a:ln w="9525">
            <a:solidFill>
              <a:srgbClr val="E1E6EB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263640" y="3566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17.4%</a:t>
            </a: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margin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Bookcases and Supplies lose money, and Tables alone lose $17.8K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   Superstore sales data, 2023-2026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188720"/>
          <a:ext cx="566928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6126480" y="1371600"/>
            <a:ext cx="2560320" cy="914400"/>
          </a:xfrm>
          <a:prstGeom prst="rect">
            <a:avLst/>
          </a:prstGeom>
          <a:solidFill>
            <a:srgbClr val="F7F9FB"/>
          </a:solidFill>
          <a:ln w="9525">
            <a:solidFill>
              <a:srgbClr val="E1E6E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263640" y="1371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17</a:t>
            </a: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sub-categories lose money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6126480" y="2468880"/>
            <a:ext cx="2560320" cy="914400"/>
          </a:xfrm>
          <a:prstGeom prst="rect">
            <a:avLst/>
          </a:prstGeom>
          <a:solidFill>
            <a:srgbClr val="F7F9FB"/>
          </a:solidFill>
          <a:ln w="9525">
            <a:solidFill>
              <a:srgbClr val="E1E6E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263640" y="24688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-$22.6K</a:t>
            </a: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loss of the three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6126480" y="3566160"/>
            <a:ext cx="2560320" cy="914400"/>
          </a:xfrm>
          <a:prstGeom prst="rect">
            <a:avLst/>
          </a:prstGeom>
          <a:solidFill>
            <a:srgbClr val="F7F9FB"/>
          </a:solidFill>
          <a:ln w="9525">
            <a:solidFill>
              <a:srgbClr val="E1E6EB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263640" y="3566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$56K</a:t>
            </a: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Copiers, the top earner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discounted over 20% lose $136K, wiping out almost half of all profit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   Superstore sales data, 2023-2026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234440"/>
          <a:ext cx="55778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6126480" y="1371600"/>
            <a:ext cx="2560320" cy="914400"/>
          </a:xfrm>
          <a:prstGeom prst="rect">
            <a:avLst/>
          </a:prstGeom>
          <a:solidFill>
            <a:srgbClr val="F7F9FB"/>
          </a:solidFill>
          <a:ln w="9525">
            <a:solidFill>
              <a:srgbClr val="E1E6E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263640" y="1371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-$136K</a:t>
            </a: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lost on orders above 20% discount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6126480" y="2468880"/>
            <a:ext cx="2560320" cy="914400"/>
          </a:xfrm>
          <a:prstGeom prst="rect">
            <a:avLst/>
          </a:prstGeom>
          <a:solidFill>
            <a:srgbClr val="F7F9FB"/>
          </a:solidFill>
          <a:ln w="9525">
            <a:solidFill>
              <a:srgbClr val="E1E6E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263640" y="24688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sales come from those orders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6126480" y="3566160"/>
            <a:ext cx="2560320" cy="914400"/>
          </a:xfrm>
          <a:prstGeom prst="rect">
            <a:avLst/>
          </a:prstGeom>
          <a:solidFill>
            <a:srgbClr val="F7F9FB"/>
          </a:solidFill>
          <a:ln w="9525">
            <a:solidFill>
              <a:srgbClr val="E1E6EB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263640" y="3566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$327K</a:t>
            </a: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on full-price orders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cap discounts at 20% and fix Furniture pricing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   Superstore sales data, 2023-2026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2606040" cy="2103120"/>
          </a:xfrm>
          <a:prstGeom prst="rect">
            <a:avLst/>
          </a:prstGeom>
          <a:solidFill>
            <a:srgbClr val="F7F9FB"/>
          </a:solidFill>
          <a:ln w="9525">
            <a:solidFill>
              <a:srgbClr val="E1E6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371600"/>
            <a:ext cx="260604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160020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Cap discounts at 20%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band above 20% loses money. Require approval for anything higher.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Slide 4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246120" y="1371600"/>
            <a:ext cx="2606040" cy="2103120"/>
          </a:xfrm>
          <a:prstGeom prst="rect">
            <a:avLst/>
          </a:prstGeom>
          <a:solidFill>
            <a:srgbClr val="F7F9FB"/>
          </a:solidFill>
          <a:ln w="9525">
            <a:solidFill>
              <a:srgbClr val="E1E6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46120" y="1371600"/>
            <a:ext cx="2606040" cy="7315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429000" y="160020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Review Tables and Bookcases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Reprice or cut deep discounts on the two loss-making Furniture lines.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Slides 2-3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035040" y="1371600"/>
            <a:ext cx="2606040" cy="2103120"/>
          </a:xfrm>
          <a:prstGeom prst="rect">
            <a:avLst/>
          </a:prstGeom>
          <a:solidFill>
            <a:srgbClr val="F7F9FB"/>
          </a:solidFill>
          <a:ln w="9525">
            <a:solidFill>
              <a:srgbClr val="E1E6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0" y="1371600"/>
            <a:ext cx="2606040" cy="7315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217920" y="160020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Grow high-margin lines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Copiers, Paper and Accessories earn well. Give them more focus.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Slide 3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Superstore: Where Is Profit Leaking?</dc:title>
  <dc:subject>PptxGenJS Presentation</dc:subject>
  <dc:creator>PptxGenJS</dc:creator>
  <cp:lastModifiedBy>PptxGenJS</cp:lastModifiedBy>
  <cp:revision>1</cp:revision>
  <dcterms:created xsi:type="dcterms:W3CDTF">2026-10-23T07:10:10Z</dcterms:created>
  <dcterms:modified xsi:type="dcterms:W3CDTF">2026-10-23T07:10:10Z</dcterms:modified>
</cp:coreProperties>
</file>